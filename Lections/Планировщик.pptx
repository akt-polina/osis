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Заголовок презентации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xfrm>
            <a:off x="23558499" y="1246072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Изогнутые белые арки на отражающей поверхности серого пола"/>
          <p:cNvSpPr/>
          <p:nvPr>
            <p:ph type="pic" idx="21"/>
          </p:nvPr>
        </p:nvSpPr>
        <p:spPr>
          <a:xfrm>
            <a:off x="-76200" y="-558800"/>
            <a:ext cx="24574500" cy="148395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Автор и дата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3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Заголовок презентации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Вид снизу на высокое здание с зеркальными окнами"/>
          <p:cNvSpPr/>
          <p:nvPr>
            <p:ph type="pic" idx="21"/>
          </p:nvPr>
        </p:nvSpPr>
        <p:spPr>
          <a:xfrm>
            <a:off x="8140700" y="-1"/>
            <a:ext cx="20574000" cy="1371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3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Частичный вид на потолок с деревянными панелями"/>
          <p:cNvSpPr/>
          <p:nvPr>
            <p:ph type="pic" idx="21"/>
          </p:nvPr>
        </p:nvSpPr>
        <p:spPr>
          <a:xfrm>
            <a:off x="9588500" y="-482600"/>
            <a:ext cx="21513800" cy="1430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Подзаголовок слайда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2" name="Заголовок слайда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3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7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3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2" name="Заголовок слайда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3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100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109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Заголовок повестки дня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Авторство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Авторство</a:t>
            </a:r>
          </a:p>
        </p:txBody>
      </p:sp>
      <p:sp>
        <p:nvSpPr>
          <p:cNvPr id="136" name="Уровень текста 1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Открытая галерея каменной постройки под розово-пурпурным небом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Чёрно-белое фото изогнутой крыши крупным планом"/>
          <p:cNvSpPr/>
          <p:nvPr>
            <p:ph type="pic" sz="half" idx="22"/>
          </p:nvPr>
        </p:nvSpPr>
        <p:spPr>
          <a:xfrm>
            <a:off x="6577500" y="3632200"/>
            <a:ext cx="11228999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Вид снизу на металлическую спиральную лестницу"/>
          <p:cNvSpPr/>
          <p:nvPr>
            <p:ph type="pic" sz="quarter" idx="23"/>
          </p:nvPr>
        </p:nvSpPr>
        <p:spPr>
          <a:xfrm>
            <a:off x="146431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Белый коридор футуристичного вида с тенями"/>
          <p:cNvSpPr/>
          <p:nvPr>
            <p:ph type="pic" idx="21"/>
          </p:nvPr>
        </p:nvSpPr>
        <p:spPr>
          <a:xfrm>
            <a:off x="-38100" y="-520700"/>
            <a:ext cx="24447500" cy="147633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tif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tif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eg"/><Relationship Id="rId3" Type="http://schemas.openxmlformats.org/officeDocument/2006/relationships/image" Target="../media/image3.tif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eg"/><Relationship Id="rId3" Type="http://schemas.openxmlformats.org/officeDocument/2006/relationships/image" Target="../media/image4.tif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eg"/><Relationship Id="rId3" Type="http://schemas.openxmlformats.org/officeDocument/2006/relationships/image" Target="../media/image5.tif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eg"/><Relationship Id="rId3" Type="http://schemas.openxmlformats.org/officeDocument/2006/relationships/image" Target="../media/image6.tif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eg"/><Relationship Id="rId3" Type="http://schemas.openxmlformats.org/officeDocument/2006/relationships/image" Target="../media/image7.tif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eg"/><Relationship Id="rId3" Type="http://schemas.openxmlformats.org/officeDocument/2006/relationships/image" Target="../media/image8.tif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eg"/><Relationship Id="rId3" Type="http://schemas.openxmlformats.org/officeDocument/2006/relationships/image" Target="../media/image9.tif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eg"/><Relationship Id="rId3" Type="http://schemas.openxmlformats.org/officeDocument/2006/relationships/image" Target="../media/image10.tif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eg"/><Relationship Id="rId3" Type="http://schemas.openxmlformats.org/officeDocument/2006/relationships/image" Target="../media/image11.tif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eg"/><Relationship Id="rId3" Type="http://schemas.openxmlformats.org/officeDocument/2006/relationships/image" Target="../media/image12.tif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eg"/><Relationship Id="rId3" Type="http://schemas.openxmlformats.org/officeDocument/2006/relationships/image" Target="../media/image13.tif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eg"/><Relationship Id="rId3" Type="http://schemas.openxmlformats.org/officeDocument/2006/relationships/image" Target="../media/image14.tif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eg"/><Relationship Id="rId3" Type="http://schemas.openxmlformats.org/officeDocument/2006/relationships/image" Target="../media/image15.tif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eg"/><Relationship Id="rId3" Type="http://schemas.openxmlformats.org/officeDocument/2006/relationships/image" Target="../media/image16.tif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Автор и дат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Подзаголовок презентации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" name="Планировщик заданий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Планировщик заданий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Что это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Что это</a:t>
            </a:r>
          </a:p>
        </p:txBody>
      </p:sp>
      <p:sp>
        <p:nvSpPr>
          <p:cNvPr id="177" name="Инструмент cron используется для автоматизации любых рутинных и повторяющихся задач в операционных системах Linux и Unix. Он освобождает системных администраторов и разработчиков от необходимости выполнять регулярные действия вручную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</a:lstStyle>
          <a:p>
            <a:pPr/>
            <a:r>
              <a:t>Инструмент cron используется для автоматизации любых рутинных и повторяющихся задач в операционных системах Linux и Unix. Он освобождает системных администраторов и разработчиков от необходимости выполнять регулярные действия вручную.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0" name="Где применяетс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Где применяется</a:t>
            </a:r>
          </a:p>
        </p:txBody>
      </p:sp>
      <p:sp>
        <p:nvSpPr>
          <p:cNvPr id="181" name="Резервное копирование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40054" indent="-440054" defTabSz="273811">
              <a:spcBef>
                <a:spcPts val="4600"/>
              </a:spcBef>
              <a:defRPr sz="3850"/>
            </a:pPr>
            <a:r>
              <a:t>Резервное копирование</a:t>
            </a:r>
          </a:p>
          <a:p>
            <a:pPr marL="440054" indent="-440054" defTabSz="273811">
              <a:spcBef>
                <a:spcPts val="4600"/>
              </a:spcBef>
              <a:defRPr sz="3850"/>
            </a:pPr>
            <a:r>
              <a:t>Обслуживание баз данных</a:t>
            </a:r>
          </a:p>
          <a:p>
            <a:pPr marL="440054" indent="-440054" defTabSz="273811">
              <a:spcBef>
                <a:spcPts val="4600"/>
              </a:spcBef>
              <a:defRPr sz="3850"/>
            </a:pPr>
            <a:r>
              <a:t>Синхронизация данных</a:t>
            </a:r>
          </a:p>
          <a:p>
            <a:pPr marL="440054" indent="-440054" defTabSz="273811">
              <a:spcBef>
                <a:spcPts val="4600"/>
              </a:spcBef>
              <a:defRPr sz="3850"/>
            </a:pPr>
            <a:r>
              <a:t>Веб-задачи и CMS</a:t>
            </a:r>
          </a:p>
          <a:p>
            <a:pPr marL="440054" indent="-440054" defTabSz="273811">
              <a:spcBef>
                <a:spcPts val="4600"/>
              </a:spcBef>
              <a:defRPr sz="3850"/>
            </a:pPr>
            <a:r>
              <a:t>Мониторинг и сбор метрик</a:t>
            </a:r>
          </a:p>
          <a:p>
            <a:pPr marL="440054" indent="-440054" defTabSz="273811">
              <a:spcBef>
                <a:spcPts val="4600"/>
              </a:spcBef>
              <a:defRPr sz="3850"/>
            </a:pPr>
            <a:r>
              <a:t>Очистка системы</a:t>
            </a:r>
          </a:p>
          <a:p>
            <a:pPr marL="440054" indent="-440054" defTabSz="273811">
              <a:spcBef>
                <a:spcPts val="4600"/>
              </a:spcBef>
              <a:defRPr sz="3850"/>
            </a:pPr>
            <a:r>
              <a:t>Рассылка и уведомления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" name="Что это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Что это</a:t>
            </a:r>
          </a:p>
        </p:txBody>
      </p:sp>
      <p:sp>
        <p:nvSpPr>
          <p:cNvPr id="185" name="Crontab - таблицы, управляющие работой службы cron. Файл содержит инструкции службы cron в общей форме: запускать указанную команду в заданное время и в заданные дни. На компьютере обычно имеются общесистемный файл (/etc/crontab) и индивидуальные файлы (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</a:lstStyle>
          <a:p>
            <a:pPr/>
            <a:r>
              <a:t>Crontab - таблицы, управляющие работой службы cron. Файл содержит инструкции службы cron в общей форме: запускать указанную команду в заданное время и в заданные дни. На компьютере обычно имеются общесистемный файл (/etc/crontab) и индивидуальные файлы (/var/spool/cron/) для пользователей системы. Таким образом, команды в файле будут выполняться с правами этих пользователей или, в случае общесистемного файла, с правами пользователя, указанного в командной строке при запуске службы.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8" name="Редактирование cr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Редактирование cron</a:t>
            </a:r>
          </a:p>
        </p:txBody>
      </p:sp>
      <p:sp>
        <p:nvSpPr>
          <p:cNvPr id="189" name="Пустые строки, ведущие пробелы и символы табуляции игнорируются. Строки, начинающиеся с символа «#», считаются комментариями и игнорируются. Заметьте, что комментарии не допускаются в тех же строках, где расположены команды cron, так как они будут распоз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</a:lstStyle>
          <a:p>
            <a:pPr/>
            <a:r>
              <a:t>Пустые строки, ведущие пробелы и символы табуляции игнорируются. Строки, начинающиеся с символа «#», считаются комментариями и игнорируются. Заметьте, что комментарии не допускаются в тех же строках, где расположены команды cron, так как они будут распознаны как части команды. По этой же причине комментарии не разрешены в строках, задающих переменные среды.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" name="Команды cr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Команды cron</a:t>
            </a:r>
          </a:p>
        </p:txBody>
      </p:sp>
      <p:sp>
        <p:nvSpPr>
          <p:cNvPr id="193" name="Для редактирования файла необходимо ввести команду: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spcBef>
                <a:spcPts val="6000"/>
              </a:spcBef>
              <a:buSzTx/>
              <a:buNone/>
              <a:defRPr sz="5000"/>
            </a:pPr>
            <a:r>
              <a:t>Для редактирования файла необходимо ввести команду:</a:t>
            </a:r>
          </a:p>
          <a:p>
            <a:pPr marL="0" indent="0">
              <a:spcBef>
                <a:spcPts val="6000"/>
              </a:spcBef>
              <a:buSzTx/>
              <a:buNone/>
              <a:defRPr sz="5000"/>
            </a:pPr>
          </a:p>
        </p:txBody>
      </p:sp>
      <p:sp>
        <p:nvSpPr>
          <p:cNvPr id="194" name="crontab -e"/>
          <p:cNvSpPr txBox="1"/>
          <p:nvPr/>
        </p:nvSpPr>
        <p:spPr>
          <a:xfrm>
            <a:off x="1206499" y="5823596"/>
            <a:ext cx="21971001" cy="1209702"/>
          </a:xfrm>
          <a:prstGeom prst="rect">
            <a:avLst/>
          </a:prstGeom>
          <a:solidFill>
            <a:schemeClr val="accent1">
              <a:satOff val="-9155"/>
              <a:lumOff val="-32673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spcBef>
                <a:spcPts val="6000"/>
              </a:spcBef>
              <a:defRPr sz="5000">
                <a:solidFill>
                  <a:srgbClr val="FFFFFF"/>
                </a:solidFill>
              </a:defRPr>
            </a:lvl1pPr>
          </a:lstStyle>
          <a:p>
            <a:pPr/>
            <a:r>
              <a:t>crontab -e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7" name="Команды cr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Команды cron</a:t>
            </a:r>
          </a:p>
        </p:txBody>
      </p:sp>
      <p:sp>
        <p:nvSpPr>
          <p:cNvPr id="198" name="Пример записи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323596">
              <a:spcBef>
                <a:spcPts val="5400"/>
              </a:spcBef>
              <a:buSzTx/>
              <a:buNone/>
              <a:defRPr sz="4550"/>
            </a:pPr>
            <a:r>
              <a:t>Пример записи:</a:t>
            </a:r>
          </a:p>
          <a:p>
            <a:pPr marL="0" indent="0" defTabSz="323596">
              <a:spcBef>
                <a:spcPts val="5400"/>
              </a:spcBef>
              <a:buSzTx/>
              <a:buNone/>
              <a:defRPr sz="4550"/>
            </a:pPr>
          </a:p>
          <a:p>
            <a:pPr marL="929696" indent="-802569" defTabSz="323596">
              <a:spcBef>
                <a:spcPts val="5400"/>
              </a:spcBef>
              <a:buClr>
                <a:srgbClr val="111111"/>
              </a:buClr>
              <a:buFont typeface="Helvetica Neue"/>
              <a:defRPr sz="4550"/>
            </a:pPr>
            <a:r>
              <a:t>30 — минута (30-я минута), </a:t>
            </a:r>
          </a:p>
          <a:p>
            <a:pPr marL="929696" indent="-802569" defTabSz="323596">
              <a:spcBef>
                <a:spcPts val="5400"/>
              </a:spcBef>
              <a:buClr>
                <a:srgbClr val="111111"/>
              </a:buClr>
              <a:buFont typeface="Helvetica Neue"/>
              <a:defRPr sz="4550"/>
            </a:pPr>
            <a:r>
              <a:t>2 — час (2 часа ночи), </a:t>
            </a:r>
          </a:p>
          <a:p>
            <a:pPr marL="929696" indent="-802569" defTabSz="323596">
              <a:spcBef>
                <a:spcPts val="5400"/>
              </a:spcBef>
              <a:buClr>
                <a:srgbClr val="111111"/>
              </a:buClr>
              <a:buFont typeface="Helvetica Neue"/>
              <a:defRPr sz="4550"/>
            </a:pPr>
            <a:r>
              <a:t>* * * — каждый день, каждый месяц, любой день недели, </a:t>
            </a:r>
          </a:p>
          <a:p>
            <a:pPr marL="929696" indent="-802569" defTabSz="323596">
              <a:spcBef>
                <a:spcPts val="5400"/>
              </a:spcBef>
              <a:buClr>
                <a:srgbClr val="111111"/>
              </a:buClr>
              <a:buFont typeface="Helvetica Neue"/>
              <a:defRPr sz="4550"/>
            </a:pPr>
            <a:r>
              <a:t>/home/user/backup.sh — путь к скрипту, который будет запускаться.</a:t>
            </a:r>
          </a:p>
        </p:txBody>
      </p:sp>
      <p:sp>
        <p:nvSpPr>
          <p:cNvPr id="199" name="30 2 * * * /home/user/backup.sh"/>
          <p:cNvSpPr txBox="1"/>
          <p:nvPr/>
        </p:nvSpPr>
        <p:spPr>
          <a:xfrm>
            <a:off x="1206500" y="5343332"/>
            <a:ext cx="21971000" cy="1209701"/>
          </a:xfrm>
          <a:prstGeom prst="rect">
            <a:avLst/>
          </a:prstGeom>
          <a:solidFill>
            <a:schemeClr val="accent1">
              <a:satOff val="-9155"/>
              <a:lumOff val="-32673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spcBef>
                <a:spcPts val="6000"/>
              </a:spcBef>
              <a:defRPr sz="5000">
                <a:solidFill>
                  <a:srgbClr val="FFFFFF"/>
                </a:solidFill>
              </a:defRPr>
            </a:lvl1pPr>
          </a:lstStyle>
          <a:p>
            <a:pPr/>
            <a:r>
              <a:t>30 2 * * * /home/user/backup.sh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2" name="Команды cr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Команды cron</a:t>
            </a:r>
          </a:p>
        </p:txBody>
      </p:sp>
      <p:sp>
        <p:nvSpPr>
          <p:cNvPr id="203" name="Для просмотра содержимого расписания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spcBef>
                <a:spcPts val="6000"/>
              </a:spcBef>
              <a:buSzTx/>
              <a:buNone/>
              <a:defRPr sz="5000"/>
            </a:pPr>
            <a:r>
              <a:t>Для просмотра содержимого расписания:</a:t>
            </a:r>
          </a:p>
          <a:p>
            <a:pPr marL="0" indent="0">
              <a:spcBef>
                <a:spcPts val="6000"/>
              </a:spcBef>
              <a:buSzTx/>
              <a:buNone/>
              <a:defRPr sz="5000"/>
            </a:pPr>
          </a:p>
          <a:p>
            <a:pPr marL="0" indent="0">
              <a:spcBef>
                <a:spcPts val="6000"/>
              </a:spcBef>
              <a:buSzTx/>
              <a:buNone/>
              <a:defRPr sz="5000"/>
            </a:pPr>
            <a:r>
              <a:t>Каждая стока в системной конфигурации cron, расположенной в каталоге /etc, состоит из шести полей и команды:</a:t>
            </a:r>
          </a:p>
        </p:txBody>
      </p:sp>
      <p:sp>
        <p:nvSpPr>
          <p:cNvPr id="204" name="crontab -l"/>
          <p:cNvSpPr txBox="1"/>
          <p:nvPr/>
        </p:nvSpPr>
        <p:spPr>
          <a:xfrm>
            <a:off x="1206500" y="5833815"/>
            <a:ext cx="21971001" cy="1209701"/>
          </a:xfrm>
          <a:prstGeom prst="rect">
            <a:avLst/>
          </a:prstGeom>
          <a:solidFill>
            <a:schemeClr val="accent1">
              <a:satOff val="-9155"/>
              <a:lumOff val="-32673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spcBef>
                <a:spcPts val="6000"/>
              </a:spcBef>
              <a:defRPr sz="5000">
                <a:solidFill>
                  <a:srgbClr val="FFFFFF"/>
                </a:solidFill>
              </a:defRPr>
            </a:lvl1pPr>
          </a:lstStyle>
          <a:p>
            <a:pPr/>
            <a:r>
              <a:t>crontab -l</a:t>
            </a:r>
          </a:p>
        </p:txBody>
      </p:sp>
      <p:sp>
        <p:nvSpPr>
          <p:cNvPr id="205" name="&lt;минута&gt; &lt;час&gt; &lt;число&gt; &lt;месяц&gt; &lt;день_недели&gt; &lt;пользователь&gt; &lt;команда&gt;"/>
          <p:cNvSpPr txBox="1"/>
          <p:nvPr/>
        </p:nvSpPr>
        <p:spPr>
          <a:xfrm>
            <a:off x="1206499" y="10024815"/>
            <a:ext cx="21971001" cy="1209701"/>
          </a:xfrm>
          <a:prstGeom prst="rect">
            <a:avLst/>
          </a:prstGeom>
          <a:solidFill>
            <a:schemeClr val="accent1">
              <a:satOff val="-9155"/>
              <a:lumOff val="-32673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352044">
              <a:spcBef>
                <a:spcPts val="5900"/>
              </a:spcBef>
              <a:defRPr sz="4950">
                <a:solidFill>
                  <a:srgbClr val="FFFFFF"/>
                </a:solidFill>
              </a:defRPr>
            </a:lvl1pPr>
          </a:lstStyle>
          <a:p>
            <a:pPr/>
            <a:r>
              <a:t>&lt;минута&gt; &lt;час&gt; &lt;число&gt; &lt;месяц&gt; &lt;день_недели&gt; &lt;пользователь&gt; &lt;команда&gt;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Поля отделяются друг от друга пробелами или символами табуляции. Команда может состоять из нескольких полей. Допустимые значения полей: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95580">
              <a:spcBef>
                <a:spcPts val="3300"/>
              </a:spcBef>
              <a:defRPr sz="275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/>
            <a:r>
              <a:t>Поля отделяются друг от друга пробелами или символами табуляции. Команда может состоять из нескольких полей. Допустимые значения полей:</a:t>
            </a:r>
          </a:p>
        </p:txBody>
      </p:sp>
      <p:sp>
        <p:nvSpPr>
          <p:cNvPr id="208" name="Команды cr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Команды cron</a:t>
            </a:r>
          </a:p>
        </p:txBody>
      </p:sp>
      <p:pic>
        <p:nvPicPr>
          <p:cNvPr id="209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6500" y="4062905"/>
            <a:ext cx="21971001" cy="82686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2" name="Команды cr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Команды cron</a:t>
            </a:r>
          </a:p>
        </p:txBody>
      </p:sp>
      <p:sp>
        <p:nvSpPr>
          <p:cNvPr id="213" name="Допустимо указание нескольких значений (и диапазонов через тире) через запятую. Примеры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spcBef>
                <a:spcPts val="6000"/>
              </a:spcBef>
              <a:buSzTx/>
              <a:buNone/>
              <a:defRPr sz="5000"/>
            </a:pPr>
            <a:r>
              <a:t>Допустимо указание нескольких значений (и диапазонов через тире) через запятую. Примеры:</a:t>
            </a:r>
          </a:p>
          <a:p>
            <a:pPr marL="0" indent="0">
              <a:spcBef>
                <a:spcPts val="6000"/>
              </a:spcBef>
              <a:buSzTx/>
              <a:buNone/>
              <a:defRPr sz="5000"/>
            </a:pPr>
            <a:r>
              <a:t>' '1 , 2, 5 , 9' ' ' '0-4, 8-12' ‘.</a:t>
            </a:r>
          </a:p>
          <a:p>
            <a:pPr marL="0" indent="0">
              <a:spcBef>
                <a:spcPts val="6000"/>
              </a:spcBef>
              <a:buSzTx/>
              <a:buNone/>
              <a:defRPr sz="5000"/>
            </a:pPr>
            <a:r>
              <a:t>Диапазон указывается как два числа, разделенных дефисом. Указываемые числа включаются в диапазон. Например, значение поля &lt;час&gt; 8-11 приведёт к выполнению команды в 8, 9, 10 и 11 часов.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6" name="Команды cr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Команды cron</a:t>
            </a:r>
          </a:p>
        </p:txBody>
      </p:sp>
      <p:sp>
        <p:nvSpPr>
          <p:cNvPr id="217" name="При указании диапазона можно пропускать некоторые его значения, указав шаг в форме /&lt;число&gt;. Например: «0-23/2» для поля означает запуск команды через два часа (по стандарту V7 пришлось бы указывать «0,2,4,6,8,10,12,14,16,18,20,22»). Шаг можно указывать 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spcBef>
                <a:spcPts val="6000"/>
              </a:spcBef>
              <a:buSzTx/>
              <a:buNone/>
              <a:defRPr sz="5000"/>
            </a:pPr>
            <a:r>
              <a:t>При указании диапазона можно пропускать некоторые его значения, указав шаг в форме /&lt;число&gt;. Например: «0-23/2» для поля означает запуск команды через два часа (по стандарту V7 пришлось бы указывать «0,2,4,6,8,10,12,14,16,18,20,22»). Шаг можно указывать также после звёздочки: «каждые два часа» соответствует значению «*/2».</a:t>
            </a:r>
          </a:p>
          <a:p>
            <a:pPr marL="0" indent="0">
              <a:spcBef>
                <a:spcPts val="6000"/>
              </a:spcBef>
              <a:buSzTx/>
              <a:buNone/>
              <a:defRPr sz="5000"/>
            </a:pPr>
            <a:r>
              <a:t>Звёздочка («*») без шага соответствует полному диапазону значений.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0" name="Команды cr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Команды cron</a:t>
            </a:r>
          </a:p>
        </p:txBody>
      </p:sp>
      <p:sp>
        <p:nvSpPr>
          <p:cNvPr id="221" name="Для задания полей &lt;месяц&gt; и &lt;день_недели&gt; и можно использовать имена. Указывайте первые три буквы нужного дня или месяца на английском, регистр букв не имеет значения. Диапазоны или списки имён не разрешены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</a:lstStyle>
          <a:p>
            <a:pPr/>
            <a:r>
              <a:t>Для задания полей &lt;месяц&gt; и &lt;день_недели&gt; и можно использовать имена. Указывайте первые три буквы нужного дня или месяца на английском, регистр букв не имеет значения. Диапазоны или списки имён не разрешены.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Вместо первых пяти полей допустимо указание одного из восьми специальных триггеров: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algn="ctr" defTabSz="685165">
              <a:lnSpc>
                <a:spcPct val="90000"/>
              </a:lnSpc>
              <a:defRPr spc="-45" sz="4565"/>
            </a:lvl1pPr>
          </a:lstStyle>
          <a:p>
            <a:pPr/>
            <a:r>
              <a:t>Вместо первых пяти полей допустимо указание одного из восьми специальных триггеров:</a:t>
            </a:r>
          </a:p>
        </p:txBody>
      </p:sp>
      <p:sp>
        <p:nvSpPr>
          <p:cNvPr id="224" name="Команды cr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Команды cron</a:t>
            </a:r>
          </a:p>
        </p:txBody>
      </p:sp>
      <p:sp>
        <p:nvSpPr>
          <p:cNvPr id="225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spcBef>
                <a:spcPts val="6000"/>
              </a:spcBef>
              <a:buSzTx/>
              <a:buNone/>
              <a:defRPr sz="5000"/>
            </a:pPr>
          </a:p>
        </p:txBody>
      </p:sp>
      <p:pic>
        <p:nvPicPr>
          <p:cNvPr id="226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81829" y="4102099"/>
            <a:ext cx="19807516" cy="83949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Команды cr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Команды cron</a:t>
            </a:r>
          </a:p>
        </p:txBody>
      </p:sp>
      <p:pic>
        <p:nvPicPr>
          <p:cNvPr id="229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4796" y="2684663"/>
            <a:ext cx="11090094" cy="18370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вставленный-фильм.png" descr="вставленный-фильм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89358" y="7311807"/>
            <a:ext cx="15497305" cy="42189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Команды cr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Команды cron</a:t>
            </a:r>
          </a:p>
        </p:txBody>
      </p:sp>
      <p:pic>
        <p:nvPicPr>
          <p:cNvPr id="233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90850" y="3016250"/>
            <a:ext cx="18402300" cy="7683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Пример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Пример</a:t>
            </a:r>
          </a:p>
        </p:txBody>
      </p:sp>
      <p:pic>
        <p:nvPicPr>
          <p:cNvPr id="236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16791" y="2479492"/>
            <a:ext cx="10915224" cy="10577813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chmod +x /home/user/scripts/backup.sh"/>
          <p:cNvSpPr txBox="1"/>
          <p:nvPr/>
        </p:nvSpPr>
        <p:spPr>
          <a:xfrm>
            <a:off x="12682690" y="2496963"/>
            <a:ext cx="10915224" cy="1113174"/>
          </a:xfrm>
          <a:prstGeom prst="rect">
            <a:avLst/>
          </a:prstGeom>
          <a:solidFill>
            <a:schemeClr val="accent1">
              <a:satOff val="-9155"/>
              <a:lumOff val="-32673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327152">
              <a:spcBef>
                <a:spcPts val="5500"/>
              </a:spcBef>
              <a:defRPr sz="4600">
                <a:solidFill>
                  <a:srgbClr val="FFFFFF"/>
                </a:solidFill>
              </a:defRPr>
            </a:lvl1pPr>
          </a:lstStyle>
          <a:p>
            <a:pPr/>
            <a:r>
              <a:t>chmod +x /home/user/scripts/backup.sh</a:t>
            </a:r>
          </a:p>
        </p:txBody>
      </p:sp>
      <p:sp>
        <p:nvSpPr>
          <p:cNvPr id="238" name="30 2 * * * /home/user/scripts/backup.sh &gt; /dev/null 2&gt;&amp;1"/>
          <p:cNvSpPr txBox="1"/>
          <p:nvPr/>
        </p:nvSpPr>
        <p:spPr>
          <a:xfrm>
            <a:off x="12682690" y="4258905"/>
            <a:ext cx="10915224" cy="1113174"/>
          </a:xfrm>
          <a:prstGeom prst="rect">
            <a:avLst/>
          </a:prstGeom>
          <a:solidFill>
            <a:schemeClr val="accent1">
              <a:satOff val="-9155"/>
              <a:lumOff val="-32673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238252">
              <a:spcBef>
                <a:spcPts val="4000"/>
              </a:spcBef>
              <a:defRPr sz="3350">
                <a:solidFill>
                  <a:srgbClr val="FFFFFF"/>
                </a:solidFill>
              </a:defRPr>
            </a:lvl1pPr>
          </a:lstStyle>
          <a:p>
            <a:pPr/>
            <a:r>
              <a:t>30 2 * * * /home/user/scripts/backup.sh &gt; /dev/null 2&gt;&amp;1</a:t>
            </a:r>
          </a:p>
        </p:txBody>
      </p:sp>
      <p:sp>
        <p:nvSpPr>
          <p:cNvPr id="239" name="0 */12 * * * /home/user/scripts/backup.sh &gt; /dev/null 2&gt;&amp;1"/>
          <p:cNvSpPr txBox="1"/>
          <p:nvPr/>
        </p:nvSpPr>
        <p:spPr>
          <a:xfrm>
            <a:off x="12682690" y="6020848"/>
            <a:ext cx="10915224" cy="1113174"/>
          </a:xfrm>
          <a:prstGeom prst="rect">
            <a:avLst/>
          </a:prstGeom>
          <a:solidFill>
            <a:schemeClr val="accent1">
              <a:satOff val="-9155"/>
              <a:lumOff val="-32673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234696">
              <a:spcBef>
                <a:spcPts val="3900"/>
              </a:spcBef>
              <a:defRPr sz="3300">
                <a:solidFill>
                  <a:srgbClr val="FFFFFF"/>
                </a:solidFill>
              </a:defRPr>
            </a:lvl1pPr>
          </a:lstStyle>
          <a:p>
            <a:pPr/>
            <a:r>
              <a:t>0 */12 * * * /home/user/scripts/backup.sh &gt; /dev/null 2&gt;&amp;1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Автор и дат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2" name="Подзаголовок презентации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3" name="Планирование задач на Window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Планирование задач на Windows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6" name="Планировщик заданий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Планировщик заданий</a:t>
            </a:r>
          </a:p>
        </p:txBody>
      </p:sp>
      <p:sp>
        <p:nvSpPr>
          <p:cNvPr id="247" name="Планировщик заданий — встроенное в операционную систему Windows средство для создания запланированных заданий. Планировщик необходим для выполнения процессов администрирования системы, создания задач и скриптов, которые будут запускаться в определенное в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</a:lstStyle>
          <a:p>
            <a:pPr/>
            <a:r>
              <a:t>Планировщик заданий — встроенное в операционную систему Windows средство для создания запланированных заданий. Планировщик необходим для выполнения процессов администрирования системы, создания задач и скриптов, которые будут запускаться в определенное время, по составленному расписанию, при загрузке или при наступлении какого-либо события в системе.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1991" y="659670"/>
            <a:ext cx="22943120" cy="121937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5336" y="667419"/>
            <a:ext cx="23453328" cy="124649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В раздел справа находятся основные функции и инструменты для работы с заданиями.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75360">
              <a:lnSpc>
                <a:spcPct val="90000"/>
              </a:lnSpc>
              <a:defRPr spc="-48" sz="4800"/>
            </a:lvl1pPr>
          </a:lstStyle>
          <a:p>
            <a:pPr/>
            <a:r>
              <a:t>В раздел справа находятся основные функции и инструменты для работы с заданиями.</a:t>
            </a:r>
          </a:p>
        </p:txBody>
      </p:sp>
      <p:sp>
        <p:nvSpPr>
          <p:cNvPr id="254" name="Планировщик заданий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Планировщик заданий</a:t>
            </a:r>
          </a:p>
        </p:txBody>
      </p:sp>
      <p:sp>
        <p:nvSpPr>
          <p:cNvPr id="255" name="Подключиться к другому компьютеру. Подключение к другому компьютеру для создания на нем необходимых заданий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715151" indent="-617361" defTabSz="248920">
              <a:spcBef>
                <a:spcPts val="4200"/>
              </a:spcBef>
              <a:buClr>
                <a:srgbClr val="32353E"/>
              </a:buClr>
              <a:buFont typeface="Helvetica Neue"/>
              <a:defRPr sz="3500"/>
            </a:pPr>
            <a:r>
              <a:t>Подключиться к другому компьютеру. Подключение к другому компьютеру для создания на нем необходимых заданий.</a:t>
            </a:r>
          </a:p>
          <a:p>
            <a:pPr marL="715151" indent="-617361" defTabSz="248920">
              <a:spcBef>
                <a:spcPts val="4200"/>
              </a:spcBef>
              <a:buClr>
                <a:srgbClr val="32353E"/>
              </a:buClr>
              <a:buFont typeface="Helvetica Neue"/>
              <a:defRPr sz="3500"/>
            </a:pPr>
            <a:r>
              <a:t>Создать простую задачу. Задача будет создана при помощи встроенного мастера.</a:t>
            </a:r>
          </a:p>
          <a:p>
            <a:pPr marL="715151" indent="-617361" defTabSz="248920">
              <a:spcBef>
                <a:spcPts val="4200"/>
              </a:spcBef>
              <a:buClr>
                <a:srgbClr val="32353E"/>
              </a:buClr>
              <a:buFont typeface="Helvetica Neue"/>
              <a:defRPr sz="3500"/>
            </a:pPr>
            <a:r>
              <a:t>Создать задачу. При создании задачи можно внести свои параметры, настроив ее под свои потребности.</a:t>
            </a:r>
          </a:p>
          <a:p>
            <a:pPr marL="715151" indent="-617361" defTabSz="248920">
              <a:spcBef>
                <a:spcPts val="4200"/>
              </a:spcBef>
              <a:buClr>
                <a:srgbClr val="32353E"/>
              </a:buClr>
              <a:buFont typeface="Helvetica Neue"/>
              <a:defRPr sz="3500"/>
            </a:pPr>
            <a:r>
              <a:t>Импортировать задачу. Созданная пользователем или системой задача может быть сохранена в XML-файл и затем импортирована на другие компьютеры.</a:t>
            </a:r>
          </a:p>
          <a:p>
            <a:pPr marL="715151" indent="-617361" defTabSz="248920">
              <a:spcBef>
                <a:spcPts val="4200"/>
              </a:spcBef>
              <a:buClr>
                <a:srgbClr val="32353E"/>
              </a:buClr>
              <a:buFont typeface="Helvetica Neue"/>
              <a:defRPr sz="3500"/>
            </a:pPr>
            <a:r>
              <a:t>Отображать все выполняемые задачи. Нажатие на кнопку выводит на экран окно, в котором показаны все запущенные на данный момент задачи, время и длительность их активности. Здесь же можно снять с выполнения ту или иную задачу.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Белый коридор футуристичного вида с тенями" descr="Белый коридор футуристичного вида с тенями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155" t="3526" r="103" b="3567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258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6684" y="679391"/>
            <a:ext cx="23250632" cy="123572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Белый коридор футуристичного вида с тенями" descr="Белый коридор футуристичного вида с тенями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155" t="3526" r="103" b="3567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261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0166" y="588449"/>
            <a:ext cx="23657905" cy="124697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Белый коридор футуристичного вида с тенями" descr="Белый коридор футуристичного вида с тенями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155" t="3526" r="103" b="3567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264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9570" y="559917"/>
            <a:ext cx="23584861" cy="125901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Белый коридор футуристичного вида с тенями" descr="Белый коридор футуристичного вида с тенями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155" t="3526" r="103" b="3567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267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211" y="644033"/>
            <a:ext cx="23680286" cy="126202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Белый коридор футуристичного вида с тенями" descr="Белый коридор футуристичного вида с тенями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155" t="3526" r="103" b="3567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270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0167" y="595247"/>
            <a:ext cx="23763666" cy="125255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Белый коридор футуристичного вида с тенями" descr="Белый коридор футуристичного вида с тенями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155" t="3526" r="103" b="3567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273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2931" y="576561"/>
            <a:ext cx="23538138" cy="125628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Белый коридор футуристичного вида с тенями" descr="Белый коридор футуристичного вида с тенями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155" t="3526" r="103" b="3567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276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8425" y="758585"/>
            <a:ext cx="23364898" cy="123495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Белый коридор футуристичного вида с тенями" descr="Белый коридор футуристичного вида с тенями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155" t="3526" r="103" b="3567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279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9570" y="617626"/>
            <a:ext cx="23444499" cy="124807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Белый коридор футуристичного вида с тенями" descr="Белый коридор футуристичного вида с тенями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155" t="3526" r="103" b="3567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282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5474" y="668929"/>
            <a:ext cx="23179666" cy="123035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Белый коридор футуристичного вида с тенями" descr="Белый коридор футуристичного вида с тенями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155" t="3526" r="103" b="3567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285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2951" y="661434"/>
            <a:ext cx="23478098" cy="1239313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Белый коридор футуристичного вида с тенями" descr="Белый коридор футуристичного вида с тенями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155" t="3526" r="103" b="3567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288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6725" y="714571"/>
            <a:ext cx="23050550" cy="122868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Белый коридор футуристичного вида с тенями" descr="Белый коридор футуристичного вида с тенями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155" t="3526" r="103" b="3567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291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2177" y="643278"/>
            <a:ext cx="23201796" cy="123515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Белый коридор футуристичного вида с тенями" descr="Белый коридор футуристичного вида с тенями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155" t="3526" r="103" b="3567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294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4077" y="720233"/>
            <a:ext cx="23275047" cy="123361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Белый коридор футуристичного вида с тенями" descr="Белый коридор футуристичного вида с тенями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155" t="3526" r="103" b="3567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297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0147" y="656232"/>
            <a:ext cx="23303801" cy="124036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6_DynamicWavesLight">
  <a:themeElements>
    <a:clrScheme name="36_DynamicWaves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